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D1D75-5337-1A44-89BA-9B058F8113B7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BE6A3-407C-1F43-9F4F-26CC5CC0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4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20AC-3C8D-FCB1-A619-2D161485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F4012-530B-6F21-5ED0-0FE5FE9C4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D55F1-ED72-1959-8F97-BC22CBA7A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4C21-1623-92C0-767E-EFB9A210A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5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" y="0"/>
            <a:ext cx="12188952" cy="685800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" y="4158096"/>
            <a:ext cx="12188952" cy="2697480"/>
          </a:xfrm>
          <a:prstGeom prst="rect">
            <a:avLst/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meesho_ppt/icons/shopp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3167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14139" y="1600755"/>
            <a:ext cx="52976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022764" y="184544"/>
            <a:ext cx="882534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Meesho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Marketplace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And Business Intelligence Dashboard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590728" y="1947329"/>
            <a:ext cx="70074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 ·  Returns  ·  Refunds  ·  Delivery  ·  Risk Analysis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99AE50-16EB-B6B7-FB6C-558F80987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8224" y="-223751"/>
            <a:ext cx="2916382" cy="29163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2EF416-D7E0-4CE4-96A9-4F183494A2A0}"/>
              </a:ext>
            </a:extLst>
          </p:cNvPr>
          <p:cNvSpPr txBox="1"/>
          <p:nvPr/>
        </p:nvSpPr>
        <p:spPr>
          <a:xfrm>
            <a:off x="-1" y="4488873"/>
            <a:ext cx="121889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Presented By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Dharshini Priya L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AF05252039</a:t>
            </a:r>
          </a:p>
          <a:p>
            <a:pPr algn="ctr"/>
            <a:r>
              <a:rPr lang="en-IN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B.Tech</a:t>
            </a:r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Artificial Intelligence And Data Science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ANP-D3676 Data And Business Analyst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View of Marketplace Performance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a Business Intelligence solution built to analyse marketplace data and translate it into meaningful insight across sales, orders, returns, refunds, delivery, seller performance and customer risk.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649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structured storage of customers, orders, products, returns, sellers and delivery data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867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meesho_ppt/icons/bar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8678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8679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for data modelling, relationships, DAX calculations and visualization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meesho_ppt/icons/layou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60857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4897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interactive dashboard pages built on a single connected data model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48640" y="50749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SNAPSHOT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48640" y="534924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548640" y="5440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8640" y="5833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1938528" y="534924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1938528" y="5440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₹6.91M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38528" y="5833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328416" y="534924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3328416" y="5440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13.99%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328416" y="5833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718304" y="534924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4718304" y="5440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82.58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718304" y="5833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Seller Score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263640" y="146304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662940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DASHBOARD PAGES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629400" y="2240280"/>
            <a:ext cx="4617720" cy="1170432"/>
          </a:xfrm>
          <a:prstGeom prst="roundRect">
            <a:avLst>
              <a:gd name="adj" fmla="val 4688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6858000" y="2404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7543800" y="2386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7543800" y="2770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marketplace performance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629400" y="3611880"/>
            <a:ext cx="4617720" cy="1170432"/>
          </a:xfrm>
          <a:prstGeom prst="roundRect">
            <a:avLst>
              <a:gd name="adj" fmla="val 4688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6858000" y="3776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5" name="Text 30"/>
          <p:cNvSpPr/>
          <p:nvPr/>
        </p:nvSpPr>
        <p:spPr>
          <a:xfrm>
            <a:off x="7543800" y="37581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Intelligence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7543800" y="41422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refunds &amp; customer risk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629400" y="4983480"/>
            <a:ext cx="4617720" cy="1170432"/>
          </a:xfrm>
          <a:prstGeom prst="roundRect">
            <a:avLst>
              <a:gd name="adj" fmla="val 4688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6858000" y="5148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9" name="Text 34"/>
          <p:cNvSpPr/>
          <p:nvPr/>
        </p:nvSpPr>
        <p:spPr>
          <a:xfrm>
            <a:off x="7543800" y="51297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Risk Score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7543800" y="5513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&amp; delivery risk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Marketplace Needs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marketplaces generate large volumes of data through orders, payments, deliveries, returns, refunds and seller activity — but that data is spread across many disconnected tables, making it hard to see the full performance picture.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322320" cy="1463040"/>
          </a:xfrm>
          <a:prstGeom prst="roundRect">
            <a:avLst>
              <a:gd name="adj" fmla="val 4375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meesho_ppt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314663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657600"/>
            <a:ext cx="2810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monitoring overall order &amp; sales performance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91000" y="2743200"/>
            <a:ext cx="3322320" cy="1463040"/>
          </a:xfrm>
          <a:prstGeom prst="roundRect">
            <a:avLst>
              <a:gd name="adj" fmla="val 4375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447032" y="2999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meesho_ppt/icons/tren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433" y="31466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7032" y="3657600"/>
            <a:ext cx="2810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view of monthly sales and return trends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833360" y="2743200"/>
            <a:ext cx="3322320" cy="1463040"/>
          </a:xfrm>
          <a:prstGeom prst="roundRect">
            <a:avLst>
              <a:gd name="adj" fmla="val 4375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089392" y="2999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meesho_ppt/icons/pie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793" y="314663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89392" y="3657600"/>
            <a:ext cx="2810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reasons and high-return products go unidentified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434840"/>
            <a:ext cx="3322320" cy="1463040"/>
          </a:xfrm>
          <a:prstGeom prst="roundRect">
            <a:avLst>
              <a:gd name="adj" fmla="val 4375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804672" y="46908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meesho_ppt/icons/bar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073" y="4838273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672" y="5349240"/>
            <a:ext cx="2810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of refunds is hard to quantify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191000" y="4434840"/>
            <a:ext cx="3322320" cy="1463040"/>
          </a:xfrm>
          <a:prstGeom prst="roundRect">
            <a:avLst>
              <a:gd name="adj" fmla="val 4375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447032" y="46908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meesho_ppt/icons/activit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433" y="4838273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47032" y="5349240"/>
            <a:ext cx="2810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are not tracked systematically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7833360" y="4434840"/>
            <a:ext cx="3322320" cy="1463040"/>
          </a:xfrm>
          <a:prstGeom prst="roundRect">
            <a:avLst>
              <a:gd name="adj" fmla="val 4375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8089392" y="46908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/home/claude/meesho_ppt/icons/targ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6793" y="4838273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089392" y="5349240"/>
            <a:ext cx="2810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flag high-risk sellers or customers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Analytics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98878" cy="3566160"/>
          </a:xfrm>
          <a:prstGeom prst="roundRect">
            <a:avLst>
              <a:gd name="adj" fmla="val 3660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05179" y="2331720"/>
            <a:ext cx="685800" cy="68580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87" y="25100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9184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Dataset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3232" y="3794760"/>
            <a:ext cx="166969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synthetic marketplace dataset generated using python and stored as csv files.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21838" y="1965960"/>
            <a:ext cx="1998878" cy="3566160"/>
          </a:xfrm>
          <a:prstGeom prst="roundRect">
            <a:avLst>
              <a:gd name="adj" fmla="val 3660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78378" y="2331720"/>
            <a:ext cx="685800" cy="68580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meesho_ppt/icons/serv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686" y="25100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1566" y="329184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986430" y="3794760"/>
            <a:ext cx="166969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storage across 6 linked tables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95037" y="1965960"/>
            <a:ext cx="1998878" cy="3566160"/>
          </a:xfrm>
          <a:prstGeom prst="roundRect">
            <a:avLst>
              <a:gd name="adj" fmla="val 3660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751576" y="2331720"/>
            <a:ext cx="685800" cy="68580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meesho_ppt/icons/barchar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884" y="25100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4765" y="329184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259629" y="3794760"/>
            <a:ext cx="166969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Modelling, DAX calculations, KPIs &amp; interactive visuals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68235" y="1965960"/>
            <a:ext cx="1998878" cy="3566160"/>
          </a:xfrm>
          <a:prstGeom prst="roundRect">
            <a:avLst>
              <a:gd name="adj" fmla="val 3660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024774" y="2331720"/>
            <a:ext cx="685800" cy="68580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meesho_ppt/icons/filter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082" y="25100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7963" y="329184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32827" y="3794760"/>
            <a:ext cx="166969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and transformation layer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41434" y="1965960"/>
            <a:ext cx="1998878" cy="3566160"/>
          </a:xfrm>
          <a:prstGeom prst="roundRect">
            <a:avLst>
              <a:gd name="adj" fmla="val 3660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0297973" y="2331720"/>
            <a:ext cx="685800" cy="68580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meesho_ppt/icons/activity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6281" y="251002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51162" y="329184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806026" y="3794760"/>
            <a:ext cx="166969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measures &amp; columns behind every KPI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 &amp; Source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25000"/>
              </a:lnSpc>
            </a:pPr>
            <a:r>
              <a:rPr lang="en-IN" sz="1400" dirty="0">
                <a:solidFill>
                  <a:schemeClr val="bg1"/>
                </a:solidFill>
              </a:rPr>
              <a:t>The dataset was not taken from an external source. I generated a synthetic </a:t>
            </a:r>
            <a:r>
              <a:rPr lang="en-IN" sz="1400" dirty="0" err="1">
                <a:solidFill>
                  <a:schemeClr val="bg1"/>
                </a:solidFill>
              </a:rPr>
              <a:t>Meesho</a:t>
            </a:r>
            <a:r>
              <a:rPr lang="en-IN" sz="1400" dirty="0">
                <a:solidFill>
                  <a:schemeClr val="bg1"/>
                </a:solidFill>
              </a:rPr>
              <a:t> marketplace dataset using Python to simulate realistic e-commerce data. The generated data was stored as CSV files, imported into MySQL as six related tables, and then connected to Power BI for analysis and dashboard development.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icons/uploa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241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3200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→  MySQL Import  →  Power BI Connection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CONNECTED TABLES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29400" y="2148840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812280" y="2368296"/>
            <a:ext cx="182880" cy="18288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132320" y="214884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meesho_project_customers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29400" y="2871216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812280" y="3090672"/>
            <a:ext cx="182880" cy="18288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132320" y="287121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meesho_project_orders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29400" y="3593592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812280" y="3813048"/>
            <a:ext cx="182880" cy="18288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132320" y="3593592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meesho_project_products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29400" y="4315968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812280" y="4535424"/>
            <a:ext cx="182880" cy="18288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132320" y="431596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meesho_project_returns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29400" y="5038344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812280" y="5257800"/>
            <a:ext cx="182880" cy="18288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132320" y="5038344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meesho_project_sellers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29400" y="5760720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812280" y="5980176"/>
            <a:ext cx="182880" cy="18288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132320" y="576072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meesho_project_delivery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— Database &amp; Table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3864" cy="1874520"/>
          </a:xfrm>
          <a:prstGeom prst="roundRect">
            <a:avLst>
              <a:gd name="adj" fmla="val 3415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name, age, gender, city, state, segment, signup_date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52544" y="1737360"/>
            <a:ext cx="3483864" cy="1874520"/>
          </a:xfrm>
          <a:prstGeom prst="roundRect">
            <a:avLst>
              <a:gd name="adj" fmla="val 3415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81144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meesho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03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60604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81144" y="297180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customer_id, product_id, seller_id, dates, payment, amount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56448" y="1737360"/>
            <a:ext cx="3483864" cy="1874520"/>
          </a:xfrm>
          <a:prstGeom prst="roundRect">
            <a:avLst>
              <a:gd name="adj" fmla="val 3415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85048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meesho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807" y="2096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5048" y="260604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85048" y="297180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category &amp; product-level return performance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483864" cy="1874520"/>
          </a:xfrm>
          <a:prstGeom prst="roundRect">
            <a:avLst>
              <a:gd name="adj" fmla="val 3415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meesho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54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1206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return_id, order_id, reason, category, status, refund_amount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52544" y="3886200"/>
            <a:ext cx="3483864" cy="1874520"/>
          </a:xfrm>
          <a:prstGeom prst="roundRect">
            <a:avLst>
              <a:gd name="adj" fmla="val 3415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81144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meesho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03" y="42455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754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81144" y="51206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seller_id, seller_name, city, state, rating, seller_since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56448" y="3886200"/>
            <a:ext cx="3483864" cy="1874520"/>
          </a:xfrm>
          <a:prstGeom prst="roundRect">
            <a:avLst>
              <a:gd name="adj" fmla="val 3415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385048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meesho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807" y="424555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85048" y="4754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85048" y="51206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delivery days, delay days, region, warehouse info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MySQL with Power 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meesho_ppt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8401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MySQL Database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directly to the MySQL server using the MySQL connector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63824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55848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538728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538728" y="2697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meesho_ppt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374" y="28401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33832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Six Tables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38728" y="4114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Orders, Products, Returns, Sellers and Delivery are loaded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971032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163056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6345936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345936" y="2697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/home/claude/meesho_ppt/icons/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582" y="2840126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45936" y="33832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Relationships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345936" y="4114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linked via Customer ID, Order ID, Product ID and Seller ID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77824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970264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9153144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9153144" y="2697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/home/claude/meesho_ppt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5790" y="2840126"/>
            <a:ext cx="263347" cy="26334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53144" y="33832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Model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153144" y="4114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checked so cross-filtering works correctly across visuals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Data (ETL) &amp; Cleaning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served as the ETL layer between MySQL and the Power BI model — loading, checking and preparing the six tables before any DAX was written.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icons/up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239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34015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imported from MySQL into the Power BI / Power Query editor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meesho_ppt/icons/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1541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34440" y="4315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date fields, numeric &amp; categorical fields verified and corrected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meesho_ppt/icons/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506851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892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34440" y="5230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prepared to support relationship keys across all six tables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6364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CHECKED DURING CLEANING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675120" y="2340864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6949440" y="2194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675120" y="29077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6949440" y="27614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Fields (order, delivery, return)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675120" y="3474720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6949440" y="33284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Fields (amounts, quantities)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675120" y="4041648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6949440" y="38953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(status, reason, method)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675120" y="4608576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6949440" y="44622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Keys Between Tables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DAX Measures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related customer orders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65904" y="182880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65904" y="228600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return records per customer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54568" y="182880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Refund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54568" y="228600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amount on returned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401568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858768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Returns ÷ Total Orders × 100  ·  Live: 13.99%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37304" y="3264408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65904" y="3401568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Refund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65904" y="3858768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refund per returned 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25968" y="3264408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354568" y="3401568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54568" y="3858768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generated per order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837176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4974336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431536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delayed orders  ·  Live: 48.75%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37304" y="4837176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65904" y="4974336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65904" y="5431536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seller scoring measure  ·  Live avg: 82.58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25968" y="4837176"/>
            <a:ext cx="3514344" cy="1353312"/>
          </a:xfrm>
          <a:prstGeom prst="roundRect">
            <a:avLst>
              <a:gd name="adj" fmla="val 473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354568" y="4974336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Score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54568" y="5431536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return/refund risk indicator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Pages, One Connected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3384" cy="3840480"/>
          </a:xfrm>
          <a:prstGeom prst="roundRect">
            <a:avLst>
              <a:gd name="adj" fmla="val 2118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33344" y="2057400"/>
            <a:ext cx="594360" cy="59436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meesho_ppt/icons/layou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878" y="22119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8036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99618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orders · ₹6.91M in sales · 13.99% return rate · 48.75% delay rate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67784" y="1828800"/>
            <a:ext cx="3453384" cy="3840480"/>
          </a:xfrm>
          <a:prstGeom prst="roundRect">
            <a:avLst>
              <a:gd name="adj" fmla="val 2118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96384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952488" y="2057400"/>
            <a:ext cx="594360" cy="59436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meesho_ppt/icons/pie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022" y="22119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6384" y="288036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Intelligence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6384" y="3657600"/>
            <a:ext cx="2996184" cy="1593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 returns · ₹880.69K refunded · Top reason: Not as Expected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86928" y="1828800"/>
            <a:ext cx="3453384" cy="3840480"/>
          </a:xfrm>
          <a:prstGeom prst="roundRect">
            <a:avLst>
              <a:gd name="adj" fmla="val 2118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8415528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0771632" y="2057400"/>
            <a:ext cx="594360" cy="59436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meesho_ppt/icons/trending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6166" y="221193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5528" y="288036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Risk Score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5528" y="3657600"/>
            <a:ext cx="299618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82.58 avg seller score · 21.7% seller risk rate · 65 high-risk sellers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 —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orders  ·  ₹6.91M sales  ·  558 returns (13.99%)  ·  ₹880.69K refunded  ·  48.75% delayed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10412" y="1545336"/>
            <a:ext cx="10168128" cy="4752066"/>
          </a:xfrm>
          <a:prstGeom prst="roundRect">
            <a:avLst>
              <a:gd name="adj" fmla="val 962"/>
            </a:avLst>
          </a:prstGeom>
          <a:solidFill>
            <a:srgbClr val="132F4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exec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600200"/>
            <a:ext cx="10058400" cy="4642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Intelligence —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Tamil Nadu · Beauty · COD  —  49 returns, 19.68% return rate, ₹52.62K refunded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10412" y="1545336"/>
            <a:ext cx="10168128" cy="4752066"/>
          </a:xfrm>
          <a:prstGeom prst="roundRect">
            <a:avLst>
              <a:gd name="adj" fmla="val 962"/>
            </a:avLst>
          </a:prstGeom>
          <a:solidFill>
            <a:srgbClr val="132F4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return_int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600200"/>
            <a:ext cx="10058400" cy="4642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RISK SCORE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Risk Score —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Tamil Nadu  —  82.58 avg seller score, 21.7% seller risk rate, 61% of sellers rated Good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10412" y="1545336"/>
            <a:ext cx="10168128" cy="4752066"/>
          </a:xfrm>
          <a:prstGeom prst="roundRect">
            <a:avLst>
              <a:gd name="adj" fmla="val 962"/>
            </a:avLst>
          </a:prstGeom>
          <a:solidFill>
            <a:srgbClr val="132F4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perf_ri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600200"/>
            <a:ext cx="10058400" cy="4642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&amp; Slicers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3864" cy="1737360"/>
          </a:xfrm>
          <a:prstGeom prst="roundRect">
            <a:avLst>
              <a:gd name="adj" fmla="val 3684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0391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icons/slid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817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3911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required reporting period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2544" y="1783080"/>
            <a:ext cx="3483864" cy="1737360"/>
          </a:xfrm>
          <a:prstGeom prst="roundRect">
            <a:avLst>
              <a:gd name="adj" fmla="val 3684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81144" y="20391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meesho_ppt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790" y="21817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66944" y="203911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81144" y="274320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entire dashboard by state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56448" y="1783080"/>
            <a:ext cx="3483864" cy="1737360"/>
          </a:xfrm>
          <a:prstGeom prst="roundRect">
            <a:avLst>
              <a:gd name="adj" fmla="val 3684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85048" y="20391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meesho_ppt/icons/pie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694" y="218175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0848" y="203911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85048" y="274320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analysis by product category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483864" cy="1737360"/>
          </a:xfrm>
          <a:prstGeom prst="roundRect">
            <a:avLst>
              <a:gd name="adj" fmla="val 3684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4005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meesho_ppt/icons/bar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14771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0507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70916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orders by payment type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2544" y="3749040"/>
            <a:ext cx="3483864" cy="1737360"/>
          </a:xfrm>
          <a:prstGeom prst="roundRect">
            <a:avLst>
              <a:gd name="adj" fmla="val 3684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81144" y="4005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meesho_ppt/icons/layou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790" y="414771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66944" y="400507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Navigation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1144" y="470916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to move across all three pages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56448" y="3749040"/>
            <a:ext cx="3483864" cy="1737360"/>
          </a:xfrm>
          <a:prstGeom prst="roundRect">
            <a:avLst>
              <a:gd name="adj" fmla="val 3684"/>
            </a:avLst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385048" y="4005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meesho_ppt/icons/lin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7694" y="414771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70848" y="400507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Filtering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85048" y="470916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Selections in one visual filter related visuals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meesho_ppt/icons/trend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19257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691640"/>
            <a:ext cx="4649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Performance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75688"/>
            <a:ext cx="46497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orders generated ₹6.91M in sales at an average order value of ₹1.73K, with ₹880.69K refunded overall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77356" y="1783080"/>
            <a:ext cx="548640" cy="5486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meesho_ppt/icons/pie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02" y="192572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0588" y="1691640"/>
            <a:ext cx="4649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Behaviour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990588" y="2075688"/>
            <a:ext cx="46497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13.99% return rate (558 orders); Not as Expected, Missing Accessories &amp; Wrong Size are near-equal top reasons (~13.8% each)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548640" cy="5486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meesho_ppt/icons/barchar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349849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264408"/>
            <a:ext cx="4649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Impact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3648456"/>
            <a:ext cx="46497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drives the largest refund share (~30%), followed by Home &amp; Men's Fashion (~20% each)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77356" y="3355848"/>
            <a:ext cx="548640" cy="5486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/home/claude/meesho_ppt/icons/activity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002" y="3498494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0588" y="3264408"/>
            <a:ext cx="4649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990588" y="3648456"/>
            <a:ext cx="46497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48.75% of orders were delivered late — a pattern that shows up as high delay risk in states like Tamil Nadu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928616"/>
            <a:ext cx="548640" cy="5486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/home/claude/meesho_ppt/icons/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" y="5071262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61872" y="4837176"/>
            <a:ext cx="4649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&amp; Risk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261872" y="5221224"/>
            <a:ext cx="46497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seller score is 82.58; 61% of sellers rate Good and just 3.67% need improvement — but 21.7% still carry return-risk flags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77356" y="4928616"/>
            <a:ext cx="548640" cy="5486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/home/claude/meesho_ppt/icons/aler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0002" y="5071262"/>
            <a:ext cx="263347" cy="26334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0588" y="4837176"/>
            <a:ext cx="4649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990588" y="5221224"/>
            <a:ext cx="46497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Top-flagged customers reach fraud-risk scores up to 65, though the large majority (585 of ~590, ~59%) score a clean 0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40902" y="3291840"/>
            <a:ext cx="9507147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75142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icons/up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337" y="3116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794760"/>
            <a:ext cx="1493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" y="2377440"/>
            <a:ext cx="14930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59667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meesho_ppt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862" y="311627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78885" y="2057400"/>
            <a:ext cx="1493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Import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178885" y="4160520"/>
            <a:ext cx="14930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44191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meesho_ppt/icons/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387" y="311627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63409" y="3794760"/>
            <a:ext cx="1493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Connection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763409" y="2377440"/>
            <a:ext cx="14930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728716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meesho_ppt/icons/filt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8911" y="311627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7934" y="2057400"/>
            <a:ext cx="1493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 Modelling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347934" y="4160520"/>
            <a:ext cx="14930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13241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/home/claude/meesho_ppt/icons/activit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3436" y="3116275"/>
            <a:ext cx="351130" cy="3511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32458" y="3794760"/>
            <a:ext cx="1493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6932458" y="2377440"/>
            <a:ext cx="14930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897765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/home/claude/meesho_ppt/icons/bar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7960" y="3116275"/>
            <a:ext cx="351130" cy="35113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16983" y="2057400"/>
            <a:ext cx="1493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516983" y="4160520"/>
            <a:ext cx="14930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10482290" y="2926080"/>
            <a:ext cx="731520" cy="73152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/home/claude/meesho_ppt/icons/layout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2485" y="3116275"/>
            <a:ext cx="351130" cy="35113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101507" y="3794760"/>
            <a:ext cx="1493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Dashboard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0101507" y="2377440"/>
            <a:ext cx="14930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05840" cy="10058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meesho_ppt/icons/githu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21817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repository link here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83080" y="2450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https://github.com/jonathpriya/meesho-marketplace-analytics.git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0" y="3204972"/>
            <a:ext cx="6035040" cy="2926080"/>
          </a:xfrm>
          <a:prstGeom prst="roundRect">
            <a:avLst>
              <a:gd name="adj" fmla="val 2500"/>
            </a:avLst>
          </a:prstGeom>
          <a:solidFill>
            <a:srgbClr val="132F4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4789516" y="3273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CONTENTS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71504" y="3758184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 creation &amp; import scripts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371504" y="4190169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(.pbix) dashboard file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371504" y="4564796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371504" y="4896473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371504" y="5285093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report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80A2D4-EA3F-4708-A99C-F4A442B2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7">
            <a:extLst>
              <a:ext uri="{FF2B5EF4-FFF2-40B4-BE49-F238E27FC236}">
                <a16:creationId xmlns:a16="http://schemas.microsoft.com/office/drawing/2014/main" id="{4BD33028-C444-A7EA-19C1-388E86E5C656}"/>
              </a:ext>
            </a:extLst>
          </p:cNvPr>
          <p:cNvSpPr/>
          <p:nvPr/>
        </p:nvSpPr>
        <p:spPr>
          <a:xfrm>
            <a:off x="3953395" y="2298801"/>
            <a:ext cx="5257800" cy="929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YOU!!!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16B2FD9-BFDF-1115-E5B4-CB3D22FF5D51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MARKETPLACE ANALYTICS DASHBOARD</a:t>
            </a:r>
            <a:endParaRPr lang="en-US" sz="9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80F48A19-F449-EE69-0688-978716647373}"/>
              </a:ext>
            </a:extLst>
          </p:cNvPr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49360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1329</Words>
  <Application>Microsoft Office PowerPoint</Application>
  <PresentationFormat>Widescreen</PresentationFormat>
  <Paragraphs>258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Dharshini Priya</cp:lastModifiedBy>
  <cp:revision>6</cp:revision>
  <dcterms:created xsi:type="dcterms:W3CDTF">2026-08-21T06:27:43Z</dcterms:created>
  <dcterms:modified xsi:type="dcterms:W3CDTF">2026-08-22T16:43:38Z</dcterms:modified>
</cp:coreProperties>
</file>